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Valuation M€</c:v>
                </c:pt>
              </c:strCache>
            </c:strRef>
          </c:tx>
          <c:spPr>
            <a:solidFill>
              <a:srgbClr val="C9A961"/>
            </a:solidFill>
            <a:ln w="25400" cap="flat">
              <a:solidFill>
                <a:srgbClr val="C9A9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C77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9A961"/>
              </a:solidFill>
              <a:ln w="9525" cap="flat">
                <a:solidFill>
                  <a:srgbClr val="C9A9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M2</c:v>
                  </c:pt>
                  <c:pt idx="2">
                    <c:v>M4</c:v>
                  </c:pt>
                  <c:pt idx="3">
                    <c:v>M6</c:v>
                  </c:pt>
                  <c:pt idx="4">
                    <c:v>M8</c:v>
                  </c:pt>
                  <c:pt idx="5">
                    <c:v>M10</c:v>
                  </c:pt>
                  <c:pt idx="6">
                    <c:v>M12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3</c:v>
                </c:pt>
                <c:pt idx="2">
                  <c:v>12</c:v>
                </c:pt>
                <c:pt idx="3">
                  <c:v>28</c:v>
                </c:pt>
                <c:pt idx="4">
                  <c:v>52</c:v>
                </c:pt>
                <c:pt idx="5">
                  <c:v>80</c:v>
                </c:pt>
                <c:pt idx="6">
                  <c:v>120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C77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4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4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Oak · Marbella ·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Magic Factory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4114800" y="2148840"/>
            <a:ext cx="393192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solo, non-developer geek builds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C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100M€+ European AI company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sovereign infrastructure and an autonomous multi-agent team.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3931920"/>
            <a:ext cx="2130552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4023360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1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0" y="466344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71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line of code to 100M€+ acquisition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founder. One laptop.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impossible bet.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Kouajjou is not a developer.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a solo founder based in Marbella who decided, in early 2026,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120M€+ AI company — with 18 autonomous agents and zero co-founders.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Claudette. A voice-first multi-agent SaaS.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is Silver Oak OS. His personal AI executive team.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VC. No employees. No compromise on sovereignty.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founder, one server in Nuremberg, and a bet 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AI done 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78240" y="1463040"/>
            <a:ext cx="2926080" cy="4114800"/>
          </a:xfrm>
          <a:prstGeom prst="rect">
            <a:avLst/>
          </a:prstGeom>
          <a:solidFill>
            <a:srgbClr val="071529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Karim Kouajjou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Oak SL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875520" y="3840480"/>
            <a:ext cx="64008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Marbella, España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 doesn't need another funded AI startup.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one founder, one laptop, one factory that proves sovereign AI can beat Silicon Valley at its own game.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what Silver Oak is.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4480560"/>
            <a:ext cx="5486400" cy="27432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663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Karim Kouajjou · Marbella ·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systems. One strategy.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394960" cy="4754880"/>
          </a:xfrm>
          <a:prstGeom prst="rect">
            <a:avLst/>
          </a:prstGeom>
          <a:solidFill>
            <a:srgbClr val="071529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Claudette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1097280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Voice-first multi-agent SaaS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Sovereign European infrastructure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Sold to B2C and B2B clients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5394960"/>
            <a:ext cx="4846320" cy="4572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394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Live. In production. Today.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solidFill>
            <a:srgbClr val="071529"/>
          </a:solidFill>
          <a:ln w="12700">
            <a:solidFill>
              <a:srgbClr val="152D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737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Oak OS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583680" y="2697480"/>
            <a:ext cx="1097280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834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Karim's personal executive team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3337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Multi-agent factory that builds, ships, markets, and scales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840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Dogfooded, internal, strategic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5394960"/>
            <a:ext cx="4846320" cy="45720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5394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no competitor has.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OAK OS — THE TEAM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agents. One goal. Karim.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47472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347472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OF STAFF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· Delegation · Executive command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3108960" cy="13716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voice Karim hears every morning.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0" y="1417320"/>
            <a:ext cx="347472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417320"/>
            <a:ext cx="347472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600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06240" y="2011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0624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· Inbox triage · Drafts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2624328"/>
            <a:ext cx="3108960" cy="13716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is a solved problem.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1417320"/>
            <a:ext cx="347472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1417320"/>
            <a:ext cx="347472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1600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Léo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863840" y="2011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86384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LinkedIn · Editorial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63840" y="2624328"/>
            <a:ext cx="3108960" cy="13716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voice, amplified and scheduled.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347472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566160"/>
            <a:ext cx="347472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49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" y="4160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48640" y="4434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· Finance · Infrastructure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773168"/>
            <a:ext cx="3108960" cy="13716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finance, infrastructure, padel.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0" y="3566160"/>
            <a:ext cx="347472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23360" y="3566160"/>
            <a:ext cx="347472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0" y="3749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206240" y="4160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206240" y="4434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· Competitor deep dives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06240" y="4773168"/>
            <a:ext cx="3108960" cy="13716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intelligence, on demand.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80960" y="3566160"/>
            <a:ext cx="347472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3566160"/>
            <a:ext cx="347472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0" y="3749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Maestro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863840" y="4160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863840" y="4434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18 code workers via MCP Bridge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863840" y="4773168"/>
            <a:ext cx="3108960" cy="13716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46" name="Text 44"/>
          <p:cNvSpPr/>
          <p:nvPr/>
        </p:nvSpPr>
        <p:spPr>
          <a:xfrm>
            <a:off x="786384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CTO who never sleeps.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SILVER OAK OS DOES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task. Every day. Autonomous.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201168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65176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Inbox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· Draft · Reply 24/7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371600"/>
            <a:ext cx="2651760" cy="201168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7832" y="1371600"/>
            <a:ext cx="265176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10712" y="2011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· Padel · Priorities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35624" y="1371600"/>
            <a:ext cx="2651760" cy="201168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35624" y="1371600"/>
            <a:ext cx="265176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18504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18504" y="2011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· Competition · Papers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43416" y="1371600"/>
            <a:ext cx="2651760" cy="201168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43416" y="1371600"/>
            <a:ext cx="265176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9226296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26296" y="2011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scripts · LinkedIn posts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11880"/>
            <a:ext cx="2651760" cy="201168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11880"/>
            <a:ext cx="265176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94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· Billing · Runway tracking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7832" y="3611880"/>
            <a:ext cx="2651760" cy="201168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7832" y="3611880"/>
            <a:ext cx="265176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3794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10712" y="4251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· Ship · Deploy via 18 workers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35624" y="3611880"/>
            <a:ext cx="2651760" cy="201168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35624" y="3611880"/>
            <a:ext cx="265176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18504" y="3794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18504" y="4251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briefs · Decision support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43416" y="3611880"/>
            <a:ext cx="2651760" cy="201168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43416" y="3611880"/>
            <a:ext cx="265176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5" name="Text 33"/>
          <p:cNvSpPr/>
          <p:nvPr/>
        </p:nvSpPr>
        <p:spPr>
          <a:xfrm>
            <a:off x="9226296" y="3794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26296" y="4251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flights · Fill forms (coming)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INFRASTRUCTURE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stack. European. Private. Ours.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3657600"/>
          </a:xfrm>
          <a:prstGeom prst="rect">
            <a:avLst/>
          </a:prstGeom>
          <a:solidFill>
            <a:srgbClr val="0B1F3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265176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Hetzner ARM64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914400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688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Nuremberg, Germany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RGPD-native hosting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51760" cy="3657600"/>
          </a:xfrm>
          <a:prstGeom prst="rect">
            <a:avLst/>
          </a:prstGeom>
          <a:solidFill>
            <a:srgbClr val="0B1F3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417320"/>
            <a:ext cx="265176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Opus 4.7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74720" y="2331720"/>
            <a:ext cx="914400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4688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· 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2651760" cy="3657600"/>
          </a:xfrm>
          <a:prstGeom prst="rect">
            <a:avLst/>
          </a:prstGeom>
          <a:solidFill>
            <a:srgbClr val="0B1F3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417320"/>
            <a:ext cx="265176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+ Vault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46520" y="2331720"/>
            <a:ext cx="914400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4688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memory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secrets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35440" y="1417320"/>
            <a:ext cx="2651760" cy="3657600"/>
          </a:xfrm>
          <a:prstGeom prst="rect">
            <a:avLst/>
          </a:prstGeom>
          <a:solidFill>
            <a:srgbClr val="0B1F3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1417320"/>
            <a:ext cx="265176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 Room Voice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418320" y="2331720"/>
            <a:ext cx="914400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/>
          <p:nvPr/>
        </p:nvSpPr>
        <p:spPr>
          <a:xfrm>
            <a:off x="9418320" y="24688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 · Gemini Live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your team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months. One exit.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from solo-builder to acquisition.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63040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645920"/>
            <a:ext cx="3474720" cy="105156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— M4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49640" y="1993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phase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4964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Claudette MVP live. Silver Oak OS internal.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412480" y="2926080"/>
            <a:ext cx="3474720" cy="105156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4964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M8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54964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4964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customers. Expansion revenue.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412480" y="4206240"/>
            <a:ext cx="3474720" cy="105156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— M12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549640" y="4553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talks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4964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interest. No round raised.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today. Expanding tomorrow.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394960" cy="4754880"/>
          </a:xfrm>
          <a:prstGeom prst="rect">
            <a:avLst/>
          </a:prstGeom>
          <a:solidFill>
            <a:srgbClr val="0B1F3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39496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six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029200" cy="13716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514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of Staff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900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9900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655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4655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9410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9410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4165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4416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4892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+ 18 workers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solidFill>
            <a:srgbClr val="0B1F3A"/>
          </a:solidFill>
          <a:ln w="12700">
            <a:solidFill>
              <a:srgbClr val="152D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463040"/>
            <a:ext cx="5394960" cy="73152"/>
          </a:xfrm>
          <a:prstGeom prst="rect">
            <a:avLst/>
          </a:prstGeom>
          <a:solidFill>
            <a:srgbClr val="152D52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COMING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Expanding the floor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92240" y="2423160"/>
            <a:ext cx="5029200" cy="13716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5146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agent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2514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ROI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29900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agent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29900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pricing, runway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4655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agent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34655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RGPD, EU AI Act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39410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39410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Prospection, CRM, pipeline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44165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4416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web actions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4892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4892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 demand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PHASES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→ Private → Public.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474720" cy="411480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22960" cy="822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1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371600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8328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uses Silver Oak OS to build Claudette. Dogfooding validates everything.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417320"/>
            <a:ext cx="3474720" cy="411480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417320"/>
            <a:ext cx="822960" cy="822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1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3484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434840" y="2697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beta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434840" y="3246120"/>
            <a:ext cx="1371600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38328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European founders get access. Feedback loop tightens the product.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474720" cy="4114800"/>
          </a:xfrm>
          <a:prstGeom prst="rect">
            <a:avLst/>
          </a:prstGeom>
          <a:solidFill>
            <a:srgbClr val="071529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417320"/>
            <a:ext cx="822960" cy="822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1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32104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321040" y="2697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321040" y="3246120"/>
            <a:ext cx="1371600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338328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Oak OS becomes a second revenue stream. Same exit thesis applies.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+ THE WORKERS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workers. One orchestrator.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23360" y="1645920"/>
            <a:ext cx="4114800" cy="1645920"/>
          </a:xfrm>
          <a:prstGeom prst="rect">
            <a:avLst/>
          </a:prstGeom>
          <a:solidFill>
            <a:srgbClr val="0B1F3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MAESTRO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02336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Orchestrator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workers via MCP Bridge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" y="3749040"/>
            <a:ext cx="1645920" cy="457200"/>
          </a:xfrm>
          <a:prstGeom prst="rect">
            <a:avLst/>
          </a:prstGeom>
          <a:solidFill>
            <a:srgbClr val="2A3A5A"/>
          </a:solidFill>
          <a:ln w="12700">
            <a:solidFill>
              <a:srgbClr val="152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3749040"/>
            <a:ext cx="1645920" cy="457200"/>
          </a:xfrm>
          <a:prstGeom prst="rect">
            <a:avLst/>
          </a:prstGeom>
          <a:solidFill>
            <a:srgbClr val="2A3A5A"/>
          </a:solidFill>
          <a:ln w="12700">
            <a:solidFill>
              <a:srgbClr val="152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65676" y="3749040"/>
            <a:ext cx="1645920" cy="457200"/>
          </a:xfrm>
          <a:prstGeom prst="rect">
            <a:avLst/>
          </a:prstGeom>
          <a:solidFill>
            <a:srgbClr val="2A3A5A"/>
          </a:solidFill>
          <a:ln w="12700">
            <a:solidFill>
              <a:srgbClr val="152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5676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4476" y="3749040"/>
            <a:ext cx="1645920" cy="457200"/>
          </a:xfrm>
          <a:prstGeom prst="rect">
            <a:avLst/>
          </a:prstGeom>
          <a:solidFill>
            <a:srgbClr val="2A3A5A"/>
          </a:solidFill>
          <a:ln w="12700">
            <a:solidFill>
              <a:srgbClr val="152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4476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23276" y="3749040"/>
            <a:ext cx="1645920" cy="457200"/>
          </a:xfrm>
          <a:prstGeom prst="rect">
            <a:avLst/>
          </a:prstGeom>
          <a:solidFill>
            <a:srgbClr val="2A3A5A"/>
          </a:solidFill>
          <a:ln w="12700">
            <a:solidFill>
              <a:srgbClr val="152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3276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752076" y="3749040"/>
            <a:ext cx="1645920" cy="457200"/>
          </a:xfrm>
          <a:prstGeom prst="rect">
            <a:avLst/>
          </a:prstGeom>
          <a:solidFill>
            <a:srgbClr val="2A3A5A"/>
          </a:solidFill>
          <a:ln w="12700">
            <a:solidFill>
              <a:srgbClr val="152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52076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dispatches tasks to specialized workers in parallel.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commit, every deploy, every review — fully autonomous.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Oak.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magic factory.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0" y="2880360"/>
            <a:ext cx="301752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1089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founder. One laptop. One team of agents.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funding. Full sovereignty. 100M€+ in 12 months.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4297680"/>
            <a:ext cx="2130552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4389120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1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120M€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0" y="502920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12 months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karim@silveroak.one  ·  Silver Oak SL  ·  Marbella, España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Silver Oak SL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Silver Oak Vision 2026</dc:title>
  <dc:subject>Silver Oak — The Magic Factory</dc:subject>
  <dc:creator>Karim Kouajjou</dc:creator>
  <cp:lastModifiedBy>Karim Kouajjou</cp:lastModifiedBy>
  <cp:revision>1</cp:revision>
  <dcterms:created xsi:type="dcterms:W3CDTF">2026-04-25T09:44:15Z</dcterms:created>
  <dcterms:modified xsi:type="dcterms:W3CDTF">2026-04-25T09:44:15Z</dcterms:modified>
</cp:coreProperties>
</file>