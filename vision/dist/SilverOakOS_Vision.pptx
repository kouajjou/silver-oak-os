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Valuation M€</c:v>
                </c:pt>
              </c:strCache>
            </c:strRef>
          </c:tx>
          <c:spPr>
            <a:solidFill>
              <a:srgbClr val="C9A961"/>
            </a:solidFill>
            <a:ln w="25400" cap="flat">
              <a:solidFill>
                <a:srgbClr val="C9A9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C77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9A961"/>
              </a:solidFill>
              <a:ln w="9525" cap="flat">
                <a:solidFill>
                  <a:srgbClr val="C9A9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M0</c:v>
                  </c:pt>
                  <c:pt idx="1">
                    <c:v>M2</c:v>
                  </c:pt>
                  <c:pt idx="2">
                    <c:v>M4</c:v>
                  </c:pt>
                  <c:pt idx="3">
                    <c:v>M6</c:v>
                  </c:pt>
                  <c:pt idx="4">
                    <c:v>M8</c:v>
                  </c:pt>
                  <c:pt idx="5">
                    <c:v>M10</c:v>
                  </c:pt>
                  <c:pt idx="6">
                    <c:v>M12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</c:v>
                </c:pt>
                <c:pt idx="1">
                  <c:v>3</c:v>
                </c:pt>
                <c:pt idx="2">
                  <c:v>12</c:v>
                </c:pt>
                <c:pt idx="3">
                  <c:v>28</c:v>
                </c:pt>
                <c:pt idx="4">
                  <c:v>52</c:v>
                </c:pt>
                <c:pt idx="5">
                  <c:v>80</c:v>
                </c:pt>
                <c:pt idx="6">
                  <c:v>120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E6C77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4C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4C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5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Oak · Marbella ·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Magic Factory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4114800" y="2148840"/>
            <a:ext cx="393192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377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solo, non-developer geek builds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6C7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100M€+ European AI company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sovereign infrastructure and an autonomous multi-agent team.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0" y="3931920"/>
            <a:ext cx="2130552" cy="128016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4023360"/>
            <a:ext cx="2130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715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5029200" y="4663440"/>
            <a:ext cx="2130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71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5303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line of code to 100M€+ acquisition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73152"/>
            <a:ext cx="12188952" cy="18288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STORY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founder. One laptop.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impossible bet.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1920240"/>
            <a:ext cx="7772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Karim Kouajjou is not a developer.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is a solo founder based in Marbella who decided, in early 2026,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build a 120M€+ AI company — with 18 autonomous agents and zero co-founders.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is Claudette. A voice-first multi-agent SaaS.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 is Silver Oak OS. His personal AI executive team.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VC. No employees. No compromise on sovereignty.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one founder, one server in Nuremberg, and a bet on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AI done right.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778240" y="1463040"/>
            <a:ext cx="2926080" cy="4114800"/>
          </a:xfrm>
          <a:prstGeom prst="rect">
            <a:avLst/>
          </a:prstGeom>
          <a:solidFill>
            <a:srgbClr val="071529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0" y="256032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Karim Kouajjou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0" y="306324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778240" y="33375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Oak SL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875520" y="3840480"/>
            <a:ext cx="64008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0" y="402336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Marbella, España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5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6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1371600" y="128016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Europe doesn't need another funded AI startup.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371600" y="2286000"/>
            <a:ext cx="9601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needs one founder, one laptop, one factory that proves sovereign AI can beat Silicon Valley at its own game.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384048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That's what Silver Oak is.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371600" y="4480560"/>
            <a:ext cx="5486400" cy="27432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46634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Karim Kouajjou · Marbella · 2026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ARCHITECTURE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systems. One strategy.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394960" cy="4754880"/>
          </a:xfrm>
          <a:prstGeom prst="rect">
            <a:avLst/>
          </a:prstGeom>
          <a:solidFill>
            <a:srgbClr val="071529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373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Claudette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640080" y="2697480"/>
            <a:ext cx="1097280" cy="2743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346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Voice-first multi-agent SaaS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337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Sovereign European infrastructure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" y="38404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Sold to B2C and B2B clients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5394960"/>
            <a:ext cx="4846320" cy="45720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53949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1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Live. In production. Today.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309360" y="1463040"/>
            <a:ext cx="5394960" cy="4754880"/>
          </a:xfrm>
          <a:prstGeom prst="rect">
            <a:avLst/>
          </a:prstGeom>
          <a:solidFill>
            <a:srgbClr val="071529"/>
          </a:solidFill>
          <a:ln w="12700">
            <a:solidFill>
              <a:srgbClr val="152D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17373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FACTORY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6583680" y="20116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Silver Oak OS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583680" y="2697480"/>
            <a:ext cx="1097280" cy="2743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6"/>
          <p:cNvSpPr/>
          <p:nvPr/>
        </p:nvSpPr>
        <p:spPr>
          <a:xfrm>
            <a:off x="6583680" y="283464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Karim's personal executive team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83680" y="333756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Multi-agent factory that builds, ships, markets, and scales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3840480"/>
            <a:ext cx="4846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Dogfooded, internal, strategic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83680" y="5394960"/>
            <a:ext cx="4846320" cy="457200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22" name="Text 20"/>
          <p:cNvSpPr/>
          <p:nvPr/>
        </p:nvSpPr>
        <p:spPr>
          <a:xfrm>
            <a:off x="6583680" y="53949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edge no competitor has.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5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OAK OS — THE TEAM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agents. One goal. Karim.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3474720" cy="1920240"/>
          </a:xfrm>
          <a:prstGeom prst="rect">
            <a:avLst/>
          </a:prstGeom>
          <a:solidFill>
            <a:srgbClr val="0B1F3A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17320"/>
            <a:ext cx="347472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002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Alex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OF STAFF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22860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· Delegation · Executive command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2624328"/>
            <a:ext cx="3108960" cy="13716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697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voice Karim hears every morning.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023360" y="1417320"/>
            <a:ext cx="3474720" cy="1920240"/>
          </a:xfrm>
          <a:prstGeom prst="rect">
            <a:avLst/>
          </a:prstGeom>
          <a:solidFill>
            <a:srgbClr val="0B1F3A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23360" y="1417320"/>
            <a:ext cx="347472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4" name="Text 12"/>
          <p:cNvSpPr/>
          <p:nvPr/>
        </p:nvSpPr>
        <p:spPr>
          <a:xfrm>
            <a:off x="4206240" y="16002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206240" y="2011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COMMUNICATIONS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206240" y="22860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· Inbox triage · Drafts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206240" y="2624328"/>
            <a:ext cx="3108960" cy="13716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0" y="2697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is a solved problem.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680960" y="1417320"/>
            <a:ext cx="3474720" cy="1920240"/>
          </a:xfrm>
          <a:prstGeom prst="rect">
            <a:avLst/>
          </a:prstGeom>
          <a:solidFill>
            <a:srgbClr val="0B1F3A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80960" y="1417320"/>
            <a:ext cx="347472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0" y="160020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Léo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863840" y="2011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863840" y="228600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· LinkedIn · Editorial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863840" y="2624328"/>
            <a:ext cx="3108960" cy="13716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0" y="269748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voice, amplified and scheduled.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3566160"/>
            <a:ext cx="3474720" cy="1920240"/>
          </a:xfrm>
          <a:prstGeom prst="rect">
            <a:avLst/>
          </a:prstGeom>
          <a:solidFill>
            <a:srgbClr val="0B1F3A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3566160"/>
            <a:ext cx="347472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7490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Marco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48640" y="41605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548640" y="44348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 · Finance · Infrastructure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48640" y="4773168"/>
            <a:ext cx="3108960" cy="13716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846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Calendar, finance, infrastructure, padel.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023360" y="3566160"/>
            <a:ext cx="3474720" cy="1920240"/>
          </a:xfrm>
          <a:prstGeom prst="rect">
            <a:avLst/>
          </a:prstGeom>
          <a:solidFill>
            <a:srgbClr val="0B1F3A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23360" y="3566160"/>
            <a:ext cx="347472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5" name="Text 33"/>
          <p:cNvSpPr/>
          <p:nvPr/>
        </p:nvSpPr>
        <p:spPr>
          <a:xfrm>
            <a:off x="4206240" y="37490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Nina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206240" y="41605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4206240" y="44348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· Competitor deep dives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206240" y="4773168"/>
            <a:ext cx="3108960" cy="13716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39" name="Text 37"/>
          <p:cNvSpPr/>
          <p:nvPr/>
        </p:nvSpPr>
        <p:spPr>
          <a:xfrm>
            <a:off x="4206240" y="4846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intelligence, on demand.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680960" y="3566160"/>
            <a:ext cx="3474720" cy="1920240"/>
          </a:xfrm>
          <a:prstGeom prst="rect">
            <a:avLst/>
          </a:prstGeom>
          <a:solidFill>
            <a:srgbClr val="0B1F3A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80960" y="3566160"/>
            <a:ext cx="347472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42" name="Text 40"/>
          <p:cNvSpPr/>
          <p:nvPr/>
        </p:nvSpPr>
        <p:spPr>
          <a:xfrm>
            <a:off x="7863840" y="374904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Maestro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7863840" y="41605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7863840" y="44348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18 code workers via MCP Bridge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863840" y="4773168"/>
            <a:ext cx="3108960" cy="13716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46" name="Text 44"/>
          <p:cNvSpPr/>
          <p:nvPr/>
        </p:nvSpPr>
        <p:spPr>
          <a:xfrm>
            <a:off x="7863840" y="48463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CTO who never sleeps.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SILVER OAK OS DOES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task. Every day. Autonomous.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2651760" cy="201168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371600"/>
            <a:ext cx="265176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5544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Inbox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02920" y="20116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· Draft · Reply 24/7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7832" y="1371600"/>
            <a:ext cx="2651760" cy="201168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27832" y="1371600"/>
            <a:ext cx="265176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1" name="Text 9"/>
          <p:cNvSpPr/>
          <p:nvPr/>
        </p:nvSpPr>
        <p:spPr>
          <a:xfrm>
            <a:off x="3410712" y="15544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Calendar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10712" y="20116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· Padel · Priorities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35624" y="1371600"/>
            <a:ext cx="2651760" cy="201168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35624" y="1371600"/>
            <a:ext cx="265176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5" name="Text 13"/>
          <p:cNvSpPr/>
          <p:nvPr/>
        </p:nvSpPr>
        <p:spPr>
          <a:xfrm>
            <a:off x="6318504" y="15544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18504" y="20116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 · Competition · Papers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043416" y="1371600"/>
            <a:ext cx="2651760" cy="201168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43416" y="1371600"/>
            <a:ext cx="265176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9" name="Text 17"/>
          <p:cNvSpPr/>
          <p:nvPr/>
        </p:nvSpPr>
        <p:spPr>
          <a:xfrm>
            <a:off x="9226296" y="155448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226296" y="201168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YouTube scripts · LinkedIn posts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3611880"/>
            <a:ext cx="2651760" cy="201168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" y="3611880"/>
            <a:ext cx="265176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7947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02920" y="42519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· Billing · Runway tracking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27832" y="3611880"/>
            <a:ext cx="2651760" cy="201168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27832" y="3611880"/>
            <a:ext cx="265176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7" name="Text 25"/>
          <p:cNvSpPr/>
          <p:nvPr/>
        </p:nvSpPr>
        <p:spPr>
          <a:xfrm>
            <a:off x="3410712" y="37947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410712" y="42519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· Ship · Deploy via 18 workers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135624" y="3611880"/>
            <a:ext cx="2651760" cy="201168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35624" y="3611880"/>
            <a:ext cx="265176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1" name="Text 29"/>
          <p:cNvSpPr/>
          <p:nvPr/>
        </p:nvSpPr>
        <p:spPr>
          <a:xfrm>
            <a:off x="6318504" y="37947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318504" y="42519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briefs · Decision support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43416" y="3611880"/>
            <a:ext cx="2651760" cy="201168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43416" y="3611880"/>
            <a:ext cx="2651760" cy="54864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5" name="Text 33"/>
          <p:cNvSpPr/>
          <p:nvPr/>
        </p:nvSpPr>
        <p:spPr>
          <a:xfrm>
            <a:off x="9226296" y="37947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Browser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226296" y="42519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flights · Fill forms (coming)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5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INFRASTRUCTURE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stack. European. Private. Ours.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20040" y="1417320"/>
            <a:ext cx="2651760" cy="3657600"/>
          </a:xfrm>
          <a:prstGeom prst="rect">
            <a:avLst/>
          </a:prstGeom>
          <a:solidFill>
            <a:srgbClr val="0B1F3A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417320"/>
            <a:ext cx="2651760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691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Hetzner ARM64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2331720"/>
            <a:ext cx="914400" cy="2743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246888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Nuremberg, Germany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RGPD-native hosting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651760" cy="3657600"/>
          </a:xfrm>
          <a:prstGeom prst="rect">
            <a:avLst/>
          </a:prstGeom>
          <a:solidFill>
            <a:srgbClr val="0B1F3A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1417320"/>
            <a:ext cx="2651760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691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Opus 4.7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474720" y="2331720"/>
            <a:ext cx="914400" cy="2743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4" name="Text 12"/>
          <p:cNvSpPr/>
          <p:nvPr/>
        </p:nvSpPr>
        <p:spPr>
          <a:xfrm>
            <a:off x="3474720" y="246888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· Architecture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63640" y="1417320"/>
            <a:ext cx="2651760" cy="3657600"/>
          </a:xfrm>
          <a:prstGeom prst="rect">
            <a:avLst/>
          </a:prstGeom>
          <a:solidFill>
            <a:srgbClr val="0B1F3A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3640" y="1417320"/>
            <a:ext cx="2651760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1691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SQLite + Vault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6446520" y="2331720"/>
            <a:ext cx="914400" cy="2743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246888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memory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secrets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235440" y="1417320"/>
            <a:ext cx="2651760" cy="3657600"/>
          </a:xfrm>
          <a:prstGeom prst="rect">
            <a:avLst/>
          </a:prstGeom>
          <a:solidFill>
            <a:srgbClr val="0B1F3A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35440" y="1417320"/>
            <a:ext cx="2651760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2" name="Text 20"/>
          <p:cNvSpPr/>
          <p:nvPr/>
        </p:nvSpPr>
        <p:spPr>
          <a:xfrm>
            <a:off x="9418320" y="169164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 Room Voice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9418320" y="2331720"/>
            <a:ext cx="914400" cy="2743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4" name="Text 22"/>
          <p:cNvSpPr/>
          <p:nvPr/>
        </p:nvSpPr>
        <p:spPr>
          <a:xfrm>
            <a:off x="9418320" y="2468880"/>
            <a:ext cx="22860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Pipecat · Gemini Live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to your team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TRAJECTORY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Twelve months. One exit.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from solo-builder to acquisition.</a:t>
            </a:r>
            <a:endParaRPr lang="en-US" sz="11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46304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8412480" y="1645920"/>
            <a:ext cx="3474720" cy="105156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17373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— M4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549640" y="199339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phase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549640" y="22402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Claudette MVP live. Silver Oak OS internal.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412480" y="2926080"/>
            <a:ext cx="3474720" cy="105156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49640" y="3017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 — M8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8549640" y="327355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549640" y="35204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paying customers. Expansion revenue.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412480" y="4206240"/>
            <a:ext cx="3474720" cy="105156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549640" y="42976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M8 — M12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549640" y="455371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Acquisition talks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549640" y="4800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interest. No round raised.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5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today. Expanding tomorrow.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394960" cy="4754880"/>
          </a:xfrm>
          <a:prstGeom prst="rect">
            <a:avLst/>
          </a:prstGeom>
          <a:solidFill>
            <a:srgbClr val="0B1F3A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5394960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TODAY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48640" y="19202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core six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23160"/>
            <a:ext cx="5029200" cy="13716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5146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86000" y="25146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of Staff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99008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286000" y="299008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465576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286000" y="346557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94106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286000" y="39410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441655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86000" y="441655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8920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286000" y="48920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+ 18 workers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309360" y="1463040"/>
            <a:ext cx="5394960" cy="4754880"/>
          </a:xfrm>
          <a:prstGeom prst="rect">
            <a:avLst/>
          </a:prstGeom>
          <a:solidFill>
            <a:srgbClr val="0B1F3A"/>
          </a:solidFill>
          <a:ln w="12700">
            <a:solidFill>
              <a:srgbClr val="152D5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09360" y="1463040"/>
            <a:ext cx="5394960" cy="73152"/>
          </a:xfrm>
          <a:prstGeom prst="rect">
            <a:avLst/>
          </a:prstGeom>
          <a:solidFill>
            <a:srgbClr val="152D52"/>
          </a:solidFill>
          <a:ln/>
        </p:spPr>
      </p:sp>
      <p:sp>
        <p:nvSpPr>
          <p:cNvPr id="24" name="Text 22"/>
          <p:cNvSpPr/>
          <p:nvPr/>
        </p:nvSpPr>
        <p:spPr>
          <a:xfrm>
            <a:off x="6492240" y="16459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COMING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492240" y="192024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Expanding the floor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492240" y="2423160"/>
            <a:ext cx="5029200" cy="13716"/>
          </a:xfrm>
          <a:prstGeom prst="rect">
            <a:avLst/>
          </a:prstGeom>
          <a:solidFill>
            <a:srgbClr val="2A3A5A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0" y="251460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agent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29600" y="25146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ROI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0" y="2990088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agent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229600" y="299008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P&amp;L, pricing, runway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83680" y="3465576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agent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229600" y="346557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Contracts, RGPD, EU AI Act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0" y="3941064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agent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229600" y="394106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Prospection, CRM, pipeline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83680" y="4416552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agent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229600" y="441655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Human-like web actions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0" y="4892040"/>
            <a:ext cx="1645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more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229600" y="489204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 on demand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PHASES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Internal → Private → Public.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3474720" cy="411480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17320"/>
            <a:ext cx="822960" cy="82296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15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548640" y="26974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Internal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246120"/>
            <a:ext cx="1371600" cy="2743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8328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Karim uses Silver Oak OS to build Claudette. Dogfooding validates everything.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51960" y="1417320"/>
            <a:ext cx="3474720" cy="411480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51960" y="1417320"/>
            <a:ext cx="822960" cy="82296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4" name="Text 12"/>
          <p:cNvSpPr/>
          <p:nvPr/>
        </p:nvSpPr>
        <p:spPr>
          <a:xfrm>
            <a:off x="425196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15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434840" y="23774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4434840" y="26974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Private beta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434840" y="3246120"/>
            <a:ext cx="1371600" cy="2743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8" name="Text 16"/>
          <p:cNvSpPr/>
          <p:nvPr/>
        </p:nvSpPr>
        <p:spPr>
          <a:xfrm>
            <a:off x="4434840" y="338328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European founders get access. Feedback loop tightens the product.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38160" y="1417320"/>
            <a:ext cx="3474720" cy="4114800"/>
          </a:xfrm>
          <a:prstGeom prst="rect">
            <a:avLst/>
          </a:prstGeom>
          <a:solidFill>
            <a:srgbClr val="071529"/>
          </a:solidFill>
          <a:ln w="12700">
            <a:solidFill>
              <a:srgbClr val="2A3A5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38160" y="1417320"/>
            <a:ext cx="822960" cy="82296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141732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715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321040" y="23774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8321040" y="26974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Public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8321040" y="3246120"/>
            <a:ext cx="1371600" cy="2743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25" name="Text 23"/>
          <p:cNvSpPr/>
          <p:nvPr/>
        </p:nvSpPr>
        <p:spPr>
          <a:xfrm>
            <a:off x="8321040" y="3383280"/>
            <a:ext cx="31089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Oak OS becomes a second revenue stream. Same exit thesis applies.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5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C9A9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 + THE WORKERS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workers. One orchestrator.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023360" y="1645920"/>
            <a:ext cx="4114800" cy="1645920"/>
          </a:xfrm>
          <a:prstGeom prst="rect">
            <a:avLst/>
          </a:prstGeom>
          <a:solidFill>
            <a:srgbClr val="0B1F3A"/>
          </a:solidFill>
          <a:ln w="12700">
            <a:solidFill>
              <a:srgbClr val="C9A9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23360" y="182880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MAESTRO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023360" y="233172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CTO · Orchestrator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23360" y="26517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workers via MCP Bridge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08076" y="3749040"/>
            <a:ext cx="1645920" cy="457200"/>
          </a:xfrm>
          <a:prstGeom prst="rect">
            <a:avLst/>
          </a:prstGeom>
          <a:solidFill>
            <a:srgbClr val="2A3A5A"/>
          </a:solidFill>
          <a:ln w="12700">
            <a:solidFill>
              <a:srgbClr val="152D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8076" y="37490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36876" y="3749040"/>
            <a:ext cx="1645920" cy="457200"/>
          </a:xfrm>
          <a:prstGeom prst="rect">
            <a:avLst/>
          </a:prstGeom>
          <a:solidFill>
            <a:srgbClr val="2A3A5A"/>
          </a:solidFill>
          <a:ln w="12700">
            <a:solidFill>
              <a:srgbClr val="152D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36876" y="37490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265676" y="3749040"/>
            <a:ext cx="1645920" cy="457200"/>
          </a:xfrm>
          <a:prstGeom prst="rect">
            <a:avLst/>
          </a:prstGeom>
          <a:solidFill>
            <a:srgbClr val="2A3A5A"/>
          </a:solidFill>
          <a:ln w="12700">
            <a:solidFill>
              <a:srgbClr val="152D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65676" y="37490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4476" y="3749040"/>
            <a:ext cx="1645920" cy="457200"/>
          </a:xfrm>
          <a:prstGeom prst="rect">
            <a:avLst/>
          </a:prstGeom>
          <a:solidFill>
            <a:srgbClr val="2A3A5A"/>
          </a:solidFill>
          <a:ln w="12700">
            <a:solidFill>
              <a:srgbClr val="152D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4476" y="37490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923276" y="3749040"/>
            <a:ext cx="1645920" cy="457200"/>
          </a:xfrm>
          <a:prstGeom prst="rect">
            <a:avLst/>
          </a:prstGeom>
          <a:solidFill>
            <a:srgbClr val="2A3A5A"/>
          </a:solidFill>
          <a:ln w="12700">
            <a:solidFill>
              <a:srgbClr val="152D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23276" y="37490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Grok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752076" y="3749040"/>
            <a:ext cx="1645920" cy="457200"/>
          </a:xfrm>
          <a:prstGeom prst="rect">
            <a:avLst/>
          </a:prstGeom>
          <a:solidFill>
            <a:srgbClr val="2A3A5A"/>
          </a:solidFill>
          <a:ln w="12700">
            <a:solidFill>
              <a:srgbClr val="152D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2076" y="37490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65760" y="35661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14400" y="448056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Maestro dispatches tasks to specialized workers in parallel.</a:t>
            </a:r>
            <a:endParaRPr lang="en-US" sz="12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code commit, every deploy, every review — fully autonomous.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5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972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Silver Oak.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C9A9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magic factory.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0" y="2880360"/>
            <a:ext cx="3017520" cy="36576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1089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founder. One laptop. One team of agents.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5204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funding. Full sovereignty. 100M€+ in 12 months.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0" y="4297680"/>
            <a:ext cx="2130552" cy="1280160"/>
          </a:xfrm>
          <a:prstGeom prst="rect">
            <a:avLst/>
          </a:prstGeom>
          <a:solidFill>
            <a:srgbClr val="C9A96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4389120"/>
            <a:ext cx="2130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715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120M€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5029200" y="5029200"/>
            <a:ext cx="213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715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12 months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6126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FA4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karim@silveroak.one  ·  Silver Oak SL  ·  Marbella, España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Silver Oak SL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Silver Oak Vision 2026</dc:title>
  <dc:subject>Silver Oak — The Magic Factory</dc:subject>
  <dc:creator>Karim Kouajjou</dc:creator>
  <cp:lastModifiedBy>Karim Kouajjou</cp:lastModifiedBy>
  <cp:revision>1</cp:revision>
  <dcterms:created xsi:type="dcterms:W3CDTF">2026-04-25T00:10:07Z</dcterms:created>
  <dcterms:modified xsi:type="dcterms:W3CDTF">2026-04-25T00:10:07Z</dcterms:modified>
</cp:coreProperties>
</file>